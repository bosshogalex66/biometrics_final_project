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Libre Baskerville"/>
      <p:regular r:id="rId18"/>
      <p:bold r:id="rId19"/>
      <p:italic r:id="rId20"/>
      <p:boldItalic r:id="rId21"/>
    </p:embeddedFont>
    <p:embeddedFont>
      <p:font typeface="Oswald"/>
      <p:regular r:id="rId22"/>
      <p:bold r:id="rId23"/>
    </p:embeddedFont>
    <p:embeddedFont>
      <p:font typeface="Open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ibreBaskerville-italic.fntdata"/><Relationship Id="rId22" Type="http://schemas.openxmlformats.org/officeDocument/2006/relationships/font" Target="fonts/Oswald-regular.fntdata"/><Relationship Id="rId21" Type="http://schemas.openxmlformats.org/officeDocument/2006/relationships/font" Target="fonts/LibreBaskerville-boldItalic.fntdata"/><Relationship Id="rId24" Type="http://schemas.openxmlformats.org/officeDocument/2006/relationships/font" Target="fonts/OpenSans-regular.fntdata"/><Relationship Id="rId23" Type="http://schemas.openxmlformats.org/officeDocument/2006/relationships/font" Target="fonts/Oswa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OpenSans-italic.fntdata"/><Relationship Id="rId25" Type="http://schemas.openxmlformats.org/officeDocument/2006/relationships/font" Target="fonts/OpenSans-bold.fntdata"/><Relationship Id="rId27" Type="http://schemas.openxmlformats.org/officeDocument/2006/relationships/font" Target="fonts/Open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LibreBaskerville-bold.fntdata"/><Relationship Id="rId18" Type="http://schemas.openxmlformats.org/officeDocument/2006/relationships/font" Target="fonts/LibreBaskerville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9547b626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c9547b626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c9547b626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9d10d971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9d10d971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baa76972f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baa76972f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baa76972f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dbaa76972f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a8a36338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9a8a36338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bcae4965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bcae4965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bcae4965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dbcae4965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bcae4965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dbcae4965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a8a36338c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9a8a36338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a8a36338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9a8a36338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9a8a36338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9a8a36338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3139" y="58286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2A4B"/>
              </a:buClr>
              <a:buSzPts val="3600"/>
              <a:buFont typeface="Oswa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575486"/>
            <a:ext cx="8229600" cy="30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 sz="2000"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latin typeface="Open Sans"/>
                <a:ea typeface="Open Sans"/>
                <a:cs typeface="Open Sans"/>
                <a:sym typeface="Open Sans"/>
              </a:defRPr>
            </a:lvl4pPr>
            <a:lvl5pPr indent="-3302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ctrTitle"/>
          </p:nvPr>
        </p:nvSpPr>
        <p:spPr>
          <a:xfrm>
            <a:off x="481913" y="1597819"/>
            <a:ext cx="82482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Oswald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" type="subTitle"/>
          </p:nvPr>
        </p:nvSpPr>
        <p:spPr>
          <a:xfrm>
            <a:off x="1371600" y="2914650"/>
            <a:ext cx="6400800" cy="13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type="title"/>
          </p:nvPr>
        </p:nvSpPr>
        <p:spPr>
          <a:xfrm>
            <a:off x="453139" y="58286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2A4B"/>
              </a:buClr>
              <a:buSzPts val="3600"/>
              <a:buFont typeface="Oswa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1" type="body"/>
          </p:nvPr>
        </p:nvSpPr>
        <p:spPr>
          <a:xfrm>
            <a:off x="457200" y="1575486"/>
            <a:ext cx="8229600" cy="30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latin typeface="Open Sans"/>
                <a:ea typeface="Open Sans"/>
                <a:cs typeface="Open Sans"/>
                <a:sym typeface="Open Sans"/>
              </a:defRPr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/>
          <p:nvPr>
            <p:ph type="title"/>
          </p:nvPr>
        </p:nvSpPr>
        <p:spPr>
          <a:xfrm>
            <a:off x="457200" y="634604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2A4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7"/>
          <p:cNvSpPr txBox="1"/>
          <p:nvPr>
            <p:ph idx="1" type="body"/>
          </p:nvPr>
        </p:nvSpPr>
        <p:spPr>
          <a:xfrm>
            <a:off x="457200" y="1569307"/>
            <a:ext cx="4038600" cy="18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6" name="Google Shape;66;p17"/>
          <p:cNvSpPr txBox="1"/>
          <p:nvPr>
            <p:ph idx="2" type="body"/>
          </p:nvPr>
        </p:nvSpPr>
        <p:spPr>
          <a:xfrm>
            <a:off x="4648200" y="1569307"/>
            <a:ext cx="4038600" cy="18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/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A4B"/>
              </a:buClr>
              <a:buSzPts val="2000"/>
              <a:buFont typeface="Oswald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8"/>
          <p:cNvSpPr/>
          <p:nvPr>
            <p:ph idx="2" type="pic"/>
          </p:nvPr>
        </p:nvSpPr>
        <p:spPr>
          <a:xfrm>
            <a:off x="1792288" y="821723"/>
            <a:ext cx="5486400" cy="27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type="title"/>
          </p:nvPr>
        </p:nvSpPr>
        <p:spPr>
          <a:xfrm>
            <a:off x="722313" y="3305176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A4B"/>
              </a:buClr>
              <a:buSzPts val="3200"/>
              <a:buFont typeface="Oswald"/>
              <a:buNone/>
              <a:defRPr b="1" sz="32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" type="body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0"/>
          <p:cNvSpPr txBox="1"/>
          <p:nvPr>
            <p:ph type="title"/>
          </p:nvPr>
        </p:nvSpPr>
        <p:spPr>
          <a:xfrm>
            <a:off x="457200" y="634604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2A4B"/>
              </a:buClr>
              <a:buSzPts val="3600"/>
              <a:buFont typeface="Oswa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1" type="body"/>
          </p:nvPr>
        </p:nvSpPr>
        <p:spPr>
          <a:xfrm>
            <a:off x="457200" y="1661373"/>
            <a:ext cx="40401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6" name="Google Shape;76;p20"/>
          <p:cNvSpPr txBox="1"/>
          <p:nvPr>
            <p:ph idx="2" type="body"/>
          </p:nvPr>
        </p:nvSpPr>
        <p:spPr>
          <a:xfrm>
            <a:off x="457200" y="2310714"/>
            <a:ext cx="4040100" cy="22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302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indent="-3175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77" name="Google Shape;77;p20"/>
          <p:cNvSpPr txBox="1"/>
          <p:nvPr>
            <p:ph idx="3" type="body"/>
          </p:nvPr>
        </p:nvSpPr>
        <p:spPr>
          <a:xfrm>
            <a:off x="4645025" y="1661373"/>
            <a:ext cx="40419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8" name="Google Shape;78;p20"/>
          <p:cNvSpPr txBox="1"/>
          <p:nvPr>
            <p:ph idx="4" type="body"/>
          </p:nvPr>
        </p:nvSpPr>
        <p:spPr>
          <a:xfrm>
            <a:off x="4645026" y="2310714"/>
            <a:ext cx="4041900" cy="22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302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indent="-3175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/>
          <p:nvPr>
            <p:ph type="title"/>
          </p:nvPr>
        </p:nvSpPr>
        <p:spPr>
          <a:xfrm>
            <a:off x="453139" y="58286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2A4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3588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3"/>
          <p:cNvSpPr txBox="1"/>
          <p:nvPr>
            <p:ph type="title"/>
          </p:nvPr>
        </p:nvSpPr>
        <p:spPr>
          <a:xfrm>
            <a:off x="457201" y="821723"/>
            <a:ext cx="30084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A4B"/>
              </a:buClr>
              <a:buSzPts val="2000"/>
              <a:buFont typeface="Oswald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3"/>
          <p:cNvSpPr txBox="1"/>
          <p:nvPr>
            <p:ph idx="1" type="body"/>
          </p:nvPr>
        </p:nvSpPr>
        <p:spPr>
          <a:xfrm>
            <a:off x="3575050" y="821725"/>
            <a:ext cx="51117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86" name="Google Shape;86;p23"/>
          <p:cNvSpPr txBox="1"/>
          <p:nvPr>
            <p:ph idx="2" type="body"/>
          </p:nvPr>
        </p:nvSpPr>
        <p:spPr>
          <a:xfrm>
            <a:off x="457201" y="1556951"/>
            <a:ext cx="3008400" cy="24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4"/>
          <p:cNvSpPr txBox="1"/>
          <p:nvPr>
            <p:ph type="title"/>
          </p:nvPr>
        </p:nvSpPr>
        <p:spPr>
          <a:xfrm>
            <a:off x="453139" y="58286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2A4B"/>
              </a:buClr>
              <a:buSzPts val="3600"/>
              <a:buFont typeface="Oswa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4"/>
          <p:cNvSpPr txBox="1"/>
          <p:nvPr>
            <p:ph idx="1" type="body"/>
          </p:nvPr>
        </p:nvSpPr>
        <p:spPr>
          <a:xfrm rot="5400000">
            <a:off x="3370350" y="-1337663"/>
            <a:ext cx="24033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5"/>
          <p:cNvSpPr txBox="1"/>
          <p:nvPr>
            <p:ph type="title"/>
          </p:nvPr>
        </p:nvSpPr>
        <p:spPr>
          <a:xfrm rot="5400000">
            <a:off x="5962200" y="1420961"/>
            <a:ext cx="33918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2A4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5"/>
          <p:cNvSpPr txBox="1"/>
          <p:nvPr>
            <p:ph idx="1" type="body"/>
          </p:nvPr>
        </p:nvSpPr>
        <p:spPr>
          <a:xfrm rot="5400000">
            <a:off x="1771200" y="-560239"/>
            <a:ext cx="33918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1" Type="http://schemas.openxmlformats.org/officeDocument/2006/relationships/image" Target="../media/image12.jp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2" cy="514807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4"/>
          <p:cNvSpPr txBox="1"/>
          <p:nvPr>
            <p:ph type="title"/>
          </p:nvPr>
        </p:nvSpPr>
        <p:spPr>
          <a:xfrm>
            <a:off x="453139" y="58286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rgbClr val="002A4B"/>
              </a:buClr>
              <a:buSzPts val="3600"/>
              <a:buFont typeface="Oswald"/>
              <a:buNone/>
              <a:defRPr b="1" i="0" sz="3600" u="none" cap="none" strike="noStrike">
                <a:solidFill>
                  <a:srgbClr val="002A4B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457200" y="1575486"/>
            <a:ext cx="8229600" cy="30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81000" lvl="1" marL="9144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556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42900" lvl="3" marL="18288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42900" lvl="4" marL="22860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jpg"/><Relationship Id="rId4" Type="http://schemas.openxmlformats.org/officeDocument/2006/relationships/image" Target="../media/image14.jpg"/><Relationship Id="rId5" Type="http://schemas.openxmlformats.org/officeDocument/2006/relationships/image" Target="../media/image9.png"/><Relationship Id="rId6" Type="http://schemas.openxmlformats.org/officeDocument/2006/relationships/image" Target="../media/image1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5.png"/><Relationship Id="rId6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jp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144" y="0"/>
            <a:ext cx="9153143" cy="515322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6"/>
          <p:cNvSpPr txBox="1"/>
          <p:nvPr/>
        </p:nvSpPr>
        <p:spPr>
          <a:xfrm>
            <a:off x="1181263" y="1609297"/>
            <a:ext cx="7824300" cy="55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30"/>
              <a:buFont typeface="Oswald"/>
              <a:buNone/>
            </a:pPr>
            <a:r>
              <a:rPr b="1" lang="en" sz="363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Biometrics Final Project</a:t>
            </a:r>
            <a:endParaRPr b="1" i="0" sz="3630" u="none" cap="none" strike="noStrike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0" name="Google Shape;100;p26"/>
          <p:cNvSpPr txBox="1"/>
          <p:nvPr/>
        </p:nvSpPr>
        <p:spPr>
          <a:xfrm>
            <a:off x="2768778" y="2160700"/>
            <a:ext cx="4891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</a:pPr>
            <a:r>
              <a:rPr lang="en" sz="2800">
                <a:solidFill>
                  <a:schemeClr val="lt1"/>
                </a:solidFill>
              </a:rPr>
              <a:t>Mason Barlow and Alex Searle</a:t>
            </a:r>
            <a:endParaRPr i="1" sz="175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7"/>
          <p:cNvSpPr txBox="1"/>
          <p:nvPr>
            <p:ph type="title"/>
          </p:nvPr>
        </p:nvSpPr>
        <p:spPr>
          <a:xfrm>
            <a:off x="427214" y="10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/>
          </a:p>
        </p:txBody>
      </p:sp>
      <p:sp>
        <p:nvSpPr>
          <p:cNvPr id="106" name="Google Shape;106;p27"/>
          <p:cNvSpPr txBox="1"/>
          <p:nvPr>
            <p:ph idx="1" type="body"/>
          </p:nvPr>
        </p:nvSpPr>
        <p:spPr>
          <a:xfrm>
            <a:off x="0" y="732950"/>
            <a:ext cx="3121200" cy="3750000"/>
          </a:xfrm>
          <a:prstGeom prst="rect">
            <a:avLst/>
          </a:prstGeom>
          <a:solidFill>
            <a:schemeClr val="accen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2"/>
                </a:solidFill>
              </a:rPr>
              <a:t>Biometric:</a:t>
            </a:r>
            <a:endParaRPr b="1" sz="22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</a:rPr>
              <a:t>Speaker Recognition</a:t>
            </a:r>
            <a:endParaRPr sz="2200">
              <a:solidFill>
                <a:schemeClr val="dk2"/>
              </a:solidFill>
            </a:endParaRPr>
          </a:p>
        </p:txBody>
      </p:sp>
      <p:sp>
        <p:nvSpPr>
          <p:cNvPr id="107" name="Google Shape;107;p27"/>
          <p:cNvSpPr txBox="1"/>
          <p:nvPr>
            <p:ph idx="1" type="body"/>
          </p:nvPr>
        </p:nvSpPr>
        <p:spPr>
          <a:xfrm>
            <a:off x="6084900" y="732900"/>
            <a:ext cx="3059100" cy="3750000"/>
          </a:xfrm>
          <a:prstGeom prst="rect">
            <a:avLst/>
          </a:prstGeom>
          <a:solidFill>
            <a:schemeClr val="accen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2"/>
                </a:solidFill>
              </a:rPr>
              <a:t>Fun Application:</a:t>
            </a:r>
            <a:endParaRPr b="1" sz="22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</a:rPr>
              <a:t>Smart Toy Nerf Blaster </a:t>
            </a:r>
            <a:endParaRPr sz="2200">
              <a:solidFill>
                <a:schemeClr val="dk2"/>
              </a:solidFill>
            </a:endParaRPr>
          </a:p>
        </p:txBody>
      </p:sp>
      <p:sp>
        <p:nvSpPr>
          <p:cNvPr id="108" name="Google Shape;108;p27"/>
          <p:cNvSpPr txBox="1"/>
          <p:nvPr>
            <p:ph idx="1" type="body"/>
          </p:nvPr>
        </p:nvSpPr>
        <p:spPr>
          <a:xfrm>
            <a:off x="3121200" y="732950"/>
            <a:ext cx="2963700" cy="3750000"/>
          </a:xfrm>
          <a:prstGeom prst="rect">
            <a:avLst/>
          </a:prstGeom>
          <a:solidFill>
            <a:schemeClr val="dk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accent1"/>
                </a:solidFill>
              </a:rPr>
              <a:t>System Process:</a:t>
            </a:r>
            <a:endParaRPr b="1" sz="22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</a:rPr>
              <a:t>1. Sound Sample Collection</a:t>
            </a:r>
            <a:endParaRPr sz="20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</a:rPr>
              <a:t>2. Preprocessing</a:t>
            </a:r>
            <a:endParaRPr sz="20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</a:rPr>
              <a:t>3. Transformer Feature Extraction Model</a:t>
            </a:r>
            <a:endParaRPr sz="20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</a:rPr>
              <a:t>4. Similarity Scoring</a:t>
            </a:r>
            <a:endParaRPr sz="20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</a:rPr>
              <a:t>5. Decision Implementation</a:t>
            </a:r>
            <a:r>
              <a:rPr lang="en" sz="2200">
                <a:solidFill>
                  <a:schemeClr val="accent1"/>
                </a:solidFill>
              </a:rPr>
              <a:t> </a:t>
            </a:r>
            <a:endParaRPr sz="22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</a:endParaRPr>
          </a:p>
        </p:txBody>
      </p:sp>
      <p:pic>
        <p:nvPicPr>
          <p:cNvPr id="109" name="Google Shape;10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475" y="2096150"/>
            <a:ext cx="2762250" cy="165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7"/>
          <p:cNvPicPr preferRelativeResize="0"/>
          <p:nvPr/>
        </p:nvPicPr>
        <p:blipFill rotWithShape="1">
          <a:blip r:embed="rId4">
            <a:alphaModFix/>
          </a:blip>
          <a:srcRect b="0" l="0" r="0" t="19407"/>
          <a:stretch/>
        </p:blipFill>
        <p:spPr>
          <a:xfrm>
            <a:off x="6287486" y="2238825"/>
            <a:ext cx="2653926" cy="160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8"/>
          <p:cNvSpPr txBox="1"/>
          <p:nvPr>
            <p:ph type="title"/>
          </p:nvPr>
        </p:nvSpPr>
        <p:spPr>
          <a:xfrm>
            <a:off x="457189" y="10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Collection</a:t>
            </a:r>
            <a:endParaRPr/>
          </a:p>
        </p:txBody>
      </p:sp>
      <p:sp>
        <p:nvSpPr>
          <p:cNvPr id="116" name="Google Shape;116;p28"/>
          <p:cNvSpPr txBox="1"/>
          <p:nvPr>
            <p:ph idx="1" type="body"/>
          </p:nvPr>
        </p:nvSpPr>
        <p:spPr>
          <a:xfrm>
            <a:off x="413325" y="1062150"/>
            <a:ext cx="4050000" cy="301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/>
              <a:t>Our system collects sound directly from the computer microphone, which is where all the processing is done.</a:t>
            </a:r>
            <a:endParaRPr/>
          </a:p>
        </p:txBody>
      </p:sp>
      <p:pic>
        <p:nvPicPr>
          <p:cNvPr id="117" name="Google Shape;117;p28"/>
          <p:cNvPicPr preferRelativeResize="0"/>
          <p:nvPr/>
        </p:nvPicPr>
        <p:blipFill rotWithShape="1">
          <a:blip r:embed="rId3">
            <a:alphaModFix/>
          </a:blip>
          <a:srcRect b="39247" l="0" r="0" t="0"/>
          <a:stretch/>
        </p:blipFill>
        <p:spPr>
          <a:xfrm>
            <a:off x="5887650" y="1124550"/>
            <a:ext cx="1596125" cy="310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9"/>
          <p:cNvSpPr txBox="1"/>
          <p:nvPr>
            <p:ph type="title"/>
          </p:nvPr>
        </p:nvSpPr>
        <p:spPr>
          <a:xfrm>
            <a:off x="457189" y="-28690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Preprocessing (HomeGrown)</a:t>
            </a:r>
            <a:endParaRPr/>
          </a:p>
        </p:txBody>
      </p:sp>
      <p:sp>
        <p:nvSpPr>
          <p:cNvPr id="123" name="Google Shape;123;p29"/>
          <p:cNvSpPr txBox="1"/>
          <p:nvPr>
            <p:ph idx="1" type="body"/>
          </p:nvPr>
        </p:nvSpPr>
        <p:spPr>
          <a:xfrm>
            <a:off x="480500" y="1021375"/>
            <a:ext cx="5665500" cy="301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/>
              <a:t>Steps:</a:t>
            </a:r>
            <a:endParaRPr/>
          </a:p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Converting to Tenser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Resampling to 16kHz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"/>
              <a:t>HomeGrown and Transfer model expects 16kHz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Convert to log mel </a:t>
            </a:r>
            <a:r>
              <a:rPr lang="en"/>
              <a:t>spectrogram for homegrown</a:t>
            </a:r>
            <a:endParaRPr/>
          </a:p>
        </p:txBody>
      </p:sp>
      <p:pic>
        <p:nvPicPr>
          <p:cNvPr id="124" name="Google Shape;12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8512" y="828700"/>
            <a:ext cx="2863676" cy="191877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0"/>
          <p:cNvSpPr txBox="1"/>
          <p:nvPr>
            <p:ph type="title"/>
          </p:nvPr>
        </p:nvSpPr>
        <p:spPr>
          <a:xfrm>
            <a:off x="405789" y="10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Mel </a:t>
            </a:r>
            <a:r>
              <a:rPr lang="en"/>
              <a:t>Spectrogram</a:t>
            </a:r>
            <a:endParaRPr/>
          </a:p>
        </p:txBody>
      </p:sp>
      <p:sp>
        <p:nvSpPr>
          <p:cNvPr id="130" name="Google Shape;130;p30"/>
          <p:cNvSpPr txBox="1"/>
          <p:nvPr>
            <p:ph idx="1" type="body"/>
          </p:nvPr>
        </p:nvSpPr>
        <p:spPr>
          <a:xfrm>
            <a:off x="136425" y="1062150"/>
            <a:ext cx="3299100" cy="301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1100"/>
              <a:t>A Mel </a:t>
            </a:r>
            <a:r>
              <a:rPr lang="en" sz="1100"/>
              <a:t>Spectrogram</a:t>
            </a:r>
            <a:r>
              <a:rPr lang="en" sz="1100"/>
              <a:t> is a specific graph showing frequencies based on the Mel scale:</a:t>
            </a:r>
            <a:endParaRPr sz="1100"/>
          </a:p>
          <a:p>
            <a:pPr indent="-298450" lvl="0" marL="457200" rtl="0" algn="l">
              <a:spcBef>
                <a:spcPts val="48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Framing the Signal into a </a:t>
            </a:r>
            <a:r>
              <a:rPr lang="en" sz="1100"/>
              <a:t>matrix</a:t>
            </a:r>
            <a:r>
              <a:rPr lang="en" sz="1100"/>
              <a:t> of short segments of the audio file.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FFT is taken on windowed segments changing the signal into the frequency domain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 sz="1100"/>
              <a:t>Within this stage it is important to remember that when using the FFT the signal can and will alias. 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The system is then converted into the Mel </a:t>
            </a:r>
            <a:r>
              <a:rPr lang="en" sz="1100"/>
              <a:t>scale</a:t>
            </a:r>
            <a:r>
              <a:rPr lang="en" sz="1100"/>
              <a:t> giving a much better image for learning models and </a:t>
            </a:r>
            <a:r>
              <a:rPr lang="en" sz="1100"/>
              <a:t>mimics</a:t>
            </a:r>
            <a:r>
              <a:rPr lang="en" sz="1100"/>
              <a:t> human hearing more effectively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 sz="1100"/>
              <a:t>This is done through the use of the Mel Filter Banks, which is a set of overlapping </a:t>
            </a:r>
            <a:r>
              <a:rPr lang="en" sz="1100"/>
              <a:t>triangular</a:t>
            </a:r>
            <a:r>
              <a:rPr lang="en" sz="1100"/>
              <a:t> filters.</a:t>
            </a:r>
            <a:endParaRPr sz="1100"/>
          </a:p>
        </p:txBody>
      </p:sp>
      <p:pic>
        <p:nvPicPr>
          <p:cNvPr id="131" name="Google Shape;13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0125" y="741150"/>
            <a:ext cx="2469474" cy="1924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80125" y="2668988"/>
            <a:ext cx="2415575" cy="1891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95700" y="2670477"/>
            <a:ext cx="2469475" cy="1888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49600" y="779000"/>
            <a:ext cx="2415576" cy="1891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>
            <p:ph type="title"/>
          </p:nvPr>
        </p:nvSpPr>
        <p:spPr>
          <a:xfrm>
            <a:off x="457189" y="25160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Fine Tuned</a:t>
            </a:r>
            <a:r>
              <a:rPr lang="en"/>
              <a:t> Feature Extraction</a:t>
            </a:r>
            <a:endParaRPr/>
          </a:p>
        </p:txBody>
      </p:sp>
      <p:sp>
        <p:nvSpPr>
          <p:cNvPr id="140" name="Google Shape;140;p31"/>
          <p:cNvSpPr txBox="1"/>
          <p:nvPr>
            <p:ph idx="1" type="body"/>
          </p:nvPr>
        </p:nvSpPr>
        <p:spPr>
          <a:xfrm>
            <a:off x="457200" y="1062161"/>
            <a:ext cx="8229600" cy="301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"/>
              <a:t>Model: WavLM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"/>
              <a:t>Input 16kHz audio sample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"/>
              <a:t>Pass through WavLM feature extractor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"/>
              <a:t>Pass through model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"/>
              <a:t>Output: 256 dimension vector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"/>
              <a:t>Dataset: Voxceleb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>
            <p:ph type="title"/>
          </p:nvPr>
        </p:nvSpPr>
        <p:spPr>
          <a:xfrm>
            <a:off x="457189" y="10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Homegrown Feature Extraction</a:t>
            </a:r>
            <a:endParaRPr/>
          </a:p>
        </p:txBody>
      </p:sp>
      <p:sp>
        <p:nvSpPr>
          <p:cNvPr id="146" name="Google Shape;146;p32"/>
          <p:cNvSpPr txBox="1"/>
          <p:nvPr>
            <p:ph idx="1" type="body"/>
          </p:nvPr>
        </p:nvSpPr>
        <p:spPr>
          <a:xfrm>
            <a:off x="457200" y="1062161"/>
            <a:ext cx="8229600" cy="301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"/>
              <a:t>Architecture: Conv1d(128) -&gt; Conv1d(128) -&gt; Conv1d(256) -&gt; Transformer Encoder -&gt; Feature Vector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"/>
              <a:t>Inputs: Log mel spectrogram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"/>
              <a:t>Outputs: 256 </a:t>
            </a:r>
            <a:r>
              <a:rPr lang="en"/>
              <a:t>dimension vector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>
            <p:ph type="title"/>
          </p:nvPr>
        </p:nvSpPr>
        <p:spPr>
          <a:xfrm>
            <a:off x="415539" y="10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</a:t>
            </a:r>
            <a:endParaRPr/>
          </a:p>
        </p:txBody>
      </p:sp>
      <p:pic>
        <p:nvPicPr>
          <p:cNvPr id="152" name="Google Shape;15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732951"/>
            <a:ext cx="2830300" cy="1698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06793" y="786551"/>
            <a:ext cx="1644576" cy="1644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91875" y="2431128"/>
            <a:ext cx="2051824" cy="2051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01375" y="2431088"/>
            <a:ext cx="2051824" cy="205189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33"/>
          <p:cNvSpPr txBox="1"/>
          <p:nvPr>
            <p:ph idx="4294967295" type="body"/>
          </p:nvPr>
        </p:nvSpPr>
        <p:spPr>
          <a:xfrm>
            <a:off x="0" y="732950"/>
            <a:ext cx="4572000" cy="3750000"/>
          </a:xfrm>
          <a:prstGeom prst="rect">
            <a:avLst/>
          </a:prstGeom>
          <a:solidFill>
            <a:schemeClr val="accen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2"/>
                </a:solidFill>
              </a:rPr>
              <a:t>Fine Tuned</a:t>
            </a:r>
            <a:r>
              <a:rPr b="1" lang="en" sz="2200">
                <a:solidFill>
                  <a:schemeClr val="dk2"/>
                </a:solidFill>
              </a:rPr>
              <a:t>:</a:t>
            </a:r>
            <a:endParaRPr b="1" sz="22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</a:rPr>
              <a:t>Threshold: .859</a:t>
            </a:r>
            <a:endParaRPr sz="22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</a:rPr>
              <a:t>Although in practice it seems to work better at a .95 threshold due to no speaking resulting in a high score</a:t>
            </a:r>
            <a:endParaRPr sz="22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</a:rPr>
              <a:t>Similarity</a:t>
            </a:r>
            <a:r>
              <a:rPr lang="en" sz="2200">
                <a:solidFill>
                  <a:schemeClr val="dk2"/>
                </a:solidFill>
              </a:rPr>
              <a:t> Score: Calculated using Cosine </a:t>
            </a:r>
            <a:r>
              <a:rPr lang="en" sz="2200">
                <a:solidFill>
                  <a:schemeClr val="dk2"/>
                </a:solidFill>
              </a:rPr>
              <a:t>Similarity</a:t>
            </a:r>
            <a:endParaRPr sz="2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4"/>
          <p:cNvSpPr txBox="1"/>
          <p:nvPr>
            <p:ph type="title"/>
          </p:nvPr>
        </p:nvSpPr>
        <p:spPr>
          <a:xfrm>
            <a:off x="415539" y="10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</a:t>
            </a:r>
            <a:endParaRPr/>
          </a:p>
        </p:txBody>
      </p:sp>
      <p:sp>
        <p:nvSpPr>
          <p:cNvPr id="162" name="Google Shape;162;p34"/>
          <p:cNvSpPr txBox="1"/>
          <p:nvPr>
            <p:ph idx="4294967295" type="body"/>
          </p:nvPr>
        </p:nvSpPr>
        <p:spPr>
          <a:xfrm>
            <a:off x="0" y="732950"/>
            <a:ext cx="4572000" cy="3750000"/>
          </a:xfrm>
          <a:prstGeom prst="rect">
            <a:avLst/>
          </a:prstGeom>
          <a:solidFill>
            <a:schemeClr val="accen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2"/>
                </a:solidFill>
              </a:rPr>
              <a:t>Home Grown:</a:t>
            </a:r>
            <a:endParaRPr b="1" sz="22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</a:rPr>
              <a:t>Threshold: .556</a:t>
            </a:r>
            <a:endParaRPr sz="22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</a:rPr>
              <a:t>Although in practice a threshold of around .7 works better due to no speaking resulting in a similarity score of .6</a:t>
            </a:r>
            <a:endParaRPr sz="22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2"/>
                </a:solidFill>
              </a:rPr>
              <a:t>Similarity Score: Calculated using Cosine Similarity</a:t>
            </a:r>
            <a:endParaRPr sz="22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</a:endParaRPr>
          </a:p>
        </p:txBody>
      </p:sp>
      <p:pic>
        <p:nvPicPr>
          <p:cNvPr id="163" name="Google Shape;16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8425" y="732950"/>
            <a:ext cx="1671876" cy="1671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2" y="732950"/>
            <a:ext cx="2786425" cy="1671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92475" y="2404821"/>
            <a:ext cx="2078124" cy="2078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88475" y="2391888"/>
            <a:ext cx="2104000" cy="21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5"/>
          <p:cNvSpPr txBox="1"/>
          <p:nvPr>
            <p:ph type="title"/>
          </p:nvPr>
        </p:nvSpPr>
        <p:spPr>
          <a:xfrm>
            <a:off x="457189" y="10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Overall Performance</a:t>
            </a:r>
            <a:endParaRPr/>
          </a:p>
        </p:txBody>
      </p:sp>
      <p:sp>
        <p:nvSpPr>
          <p:cNvPr id="172" name="Google Shape;172;p35"/>
          <p:cNvSpPr txBox="1"/>
          <p:nvPr/>
        </p:nvSpPr>
        <p:spPr>
          <a:xfrm>
            <a:off x="1159950" y="1252200"/>
            <a:ext cx="68241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Our system seems to work relatively well, but there are some places for improvement: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Our system has a harder time differentiating between a male and a male than a male and a female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AutoNum type="arabicPeriod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fine tuned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data set has a much higher 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similarity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score threshold, but our homegrown systems seems to work better, resulting in less false positives.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6"/>
          <p:cNvSpPr txBox="1"/>
          <p:nvPr>
            <p:ph type="title"/>
          </p:nvPr>
        </p:nvSpPr>
        <p:spPr>
          <a:xfrm>
            <a:off x="457189" y="10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 Application</a:t>
            </a:r>
            <a:endParaRPr/>
          </a:p>
        </p:txBody>
      </p:sp>
      <p:pic>
        <p:nvPicPr>
          <p:cNvPr id="178" name="Google Shape;17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725" y="857401"/>
            <a:ext cx="2355800" cy="209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6"/>
          <p:cNvSpPr txBox="1"/>
          <p:nvPr/>
        </p:nvSpPr>
        <p:spPr>
          <a:xfrm>
            <a:off x="3730150" y="802700"/>
            <a:ext cx="45057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Our system is also connected to feather esp32-s3, which will wait for a single to be sent over USB. When sent it will turn on a Motor based on if the user was in the database.</a:t>
            </a:r>
            <a:endParaRPr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80" name="Google Shape;180;p36"/>
          <p:cNvPicPr preferRelativeResize="0"/>
          <p:nvPr/>
        </p:nvPicPr>
        <p:blipFill rotWithShape="1">
          <a:blip r:embed="rId4">
            <a:alphaModFix/>
          </a:blip>
          <a:srcRect b="0" l="0" r="0" t="19407"/>
          <a:stretch/>
        </p:blipFill>
        <p:spPr>
          <a:xfrm>
            <a:off x="11" y="2896825"/>
            <a:ext cx="2653926" cy="160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Bucknell Brand Colors">
      <a:dk1>
        <a:srgbClr val="000000"/>
      </a:dk1>
      <a:lt1>
        <a:srgbClr val="FFFFFF"/>
      </a:lt1>
      <a:dk2>
        <a:srgbClr val="003865"/>
      </a:dk2>
      <a:lt2>
        <a:srgbClr val="D9D9D6"/>
      </a:lt2>
      <a:accent1>
        <a:srgbClr val="E87722"/>
      </a:accent1>
      <a:accent2>
        <a:srgbClr val="FFA300"/>
      </a:accent2>
      <a:accent3>
        <a:srgbClr val="0082BA"/>
      </a:accent3>
      <a:accent4>
        <a:srgbClr val="59CBE8"/>
      </a:accent4>
      <a:accent5>
        <a:srgbClr val="A7A8AA"/>
      </a:accent5>
      <a:accent6>
        <a:srgbClr val="E87722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